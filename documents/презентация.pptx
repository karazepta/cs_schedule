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0" r:id="rId9"/>
    <p:sldId id="272" r:id="rId10"/>
    <p:sldId id="265" r:id="rId11"/>
    <p:sldId id="274" r:id="rId12"/>
    <p:sldId id="275" r:id="rId13"/>
    <p:sldId id="268" r:id="rId14"/>
    <p:sldId id="276" r:id="rId15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826" y="8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319638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028420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10.06.2026</a:t>
            </a:fld>
            <a:endParaRPr lang="ru-RU"/>
          </a:p>
        </p:txBody>
      </p:sp>
      <p:sp>
        <p:nvSpPr>
          <p:cNvPr id="2028057454" name="Рисунок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744254508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2108119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15714423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319288" name="Рисунок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2882814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06808419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1F649-7695-80F5-9701-CCEAE394C69C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58D4CF-DBBE-1916-ABA7-D57C0C8021E3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5625F3-FA9B-8667-11DC-5698A49F323D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47535-D246-6DED-CE93-C8DED4452F9B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44C14A-F8D3-35D1-C3B6-5B7F509A55D1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AC517-8BA4-9FE1-B38D-1E424EF112D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3DD3C-3C65-1764-A29C-5283238D58F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47CA3-233B-3EC9-5965-A1E35EE0B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B8764-CFA6-3022-9711-60C1A95B23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5D28A-5039-2CD6-9FCA-11E98F532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AC517-8BA4-9FE1-B38D-1E424EF112D7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121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4BDBD-ECD8-3B3E-B004-017518BFC3F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FB6B9-99D7-728C-B84C-8E0D0A6D1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63586-13F0-5F88-F93F-7417CBFDA3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87667-4B1B-D99F-D4B4-A311FB2B75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AC517-8BA4-9FE1-B38D-1E424EF112D7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6445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1ED75-473F-1C26-D3CE-05D1F12B2FA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135FB-5ECD-52E6-35D2-8E9914B1C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77059-FB54-14D9-7309-659A4A8C55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100F0-214F-3497-D8A4-A17B1B8B4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AC517-8BA4-9FE1-B38D-1E424EF112D7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028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D9BF7D-0478-54D7-062A-A9C38DB7D478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2F35-20C9-B8CF-D555-1CCD9D7A299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C08B1-C59B-9345-B86F-F4FCF8E23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3CE97-5DFB-133B-1FD8-BF029776A9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8A4CC-9AC8-EB35-AFD9-62E5EF23E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D9BF7D-0478-54D7-062A-A9C38DB7D478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8482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8632-BD9D-FB85-1349-F5AA1C73598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959D9-2729-DC6A-4BE4-0E2E34B07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1E2AB-61D7-6E2C-86DB-45F799C501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04EBE-1B55-B8AF-298A-74EE2C28E5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D9BF7D-0478-54D7-062A-A9C38DB7D478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938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26A9D3-D73D-49F1-DDE1-64391AD85964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3ED9-931A-28B7-0E38-B4647A17163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319288" name="Рисунок 1">
            <a:extLst>
              <a:ext uri="{FF2B5EF4-FFF2-40B4-BE49-F238E27FC236}">
                <a16:creationId xmlns:a16="http://schemas.microsoft.com/office/drawing/2014/main" id="{0DF8CCA4-6DAF-1DC5-041D-C19ECBB71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2882814" name="Текст 2">
            <a:extLst>
              <a:ext uri="{FF2B5EF4-FFF2-40B4-BE49-F238E27FC236}">
                <a16:creationId xmlns:a16="http://schemas.microsoft.com/office/drawing/2014/main" id="{533EB9A4-6835-3CF8-D3A1-F8390F2F6A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068084193" name="Номер слайда 3">
            <a:extLst>
              <a:ext uri="{FF2B5EF4-FFF2-40B4-BE49-F238E27FC236}">
                <a16:creationId xmlns:a16="http://schemas.microsoft.com/office/drawing/2014/main" id="{AB066513-7B59-A620-B1BB-4638C2CAB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1F649-7695-80F5-9701-CCEAE394C69C}" type="slidenum">
              <a:rPr lang="ru-RU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286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46536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200041999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25067226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3A283-2DA7-47D7-B284-CB893B00F90B}" type="datetime1">
              <a:rPr lang="ru-RU" smtClean="0"/>
              <a:t>10.06.2026</a:t>
            </a:fld>
            <a:endParaRPr lang="ru-RU"/>
          </a:p>
        </p:txBody>
      </p:sp>
      <p:sp>
        <p:nvSpPr>
          <p:cNvPr id="74108428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1162950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2581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64375733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39792750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B189735-AE42-49FE-8035-C952F087A343}" type="datetime1">
              <a:rPr lang="ru-RU" smtClean="0"/>
              <a:t>10.06.2026</a:t>
            </a:fld>
            <a:endParaRPr lang="ru-RU"/>
          </a:p>
        </p:txBody>
      </p:sp>
      <p:sp>
        <p:nvSpPr>
          <p:cNvPr id="112044561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3427923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5206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2056743542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2469865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D75EC3F-4431-4680-BD27-BEBD9B9DA6DE}" type="datetime1">
              <a:rPr lang="ru-RU" smtClean="0"/>
              <a:t>10.06.2026</a:t>
            </a:fld>
            <a:endParaRPr lang="ru-RU"/>
          </a:p>
        </p:txBody>
      </p:sp>
      <p:sp>
        <p:nvSpPr>
          <p:cNvPr id="97756103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397614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55490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8367918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900589912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09710378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C11FC95-0AD7-4F65-9735-0DC5F76C0466}" type="datetime1">
              <a:rPr lang="ru-RU" smtClean="0"/>
              <a:t>10.06.2026</a:t>
            </a:fld>
            <a:endParaRPr lang="ru-RU"/>
          </a:p>
        </p:txBody>
      </p:sp>
      <p:sp>
        <p:nvSpPr>
          <p:cNvPr id="51490915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6948843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83487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45671561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21032065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100681953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59484755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21266108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D7C48D1-9B84-4A04-A5CD-522F3BC930D9}" type="datetime1">
              <a:rPr lang="ru-RU" smtClean="0"/>
              <a:t>10.06.2026</a:t>
            </a:fld>
            <a:endParaRPr lang="ru-RU"/>
          </a:p>
        </p:txBody>
      </p:sp>
      <p:sp>
        <p:nvSpPr>
          <p:cNvPr id="714743440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551543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16118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209565128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E936806-4A77-4160-A31A-83585A77CDD3}" type="datetime1">
              <a:rPr lang="ru-RU" smtClean="0"/>
              <a:t>10.06.2026</a:t>
            </a:fld>
            <a:endParaRPr lang="ru-RU"/>
          </a:p>
        </p:txBody>
      </p:sp>
      <p:sp>
        <p:nvSpPr>
          <p:cNvPr id="151322658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466293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84786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39F75B5-0D8E-4552-B226-99E0563FC978}" type="datetime1">
              <a:rPr lang="ru-RU" smtClean="0"/>
              <a:t>10.06.2026</a:t>
            </a:fld>
            <a:endParaRPr lang="ru-RU"/>
          </a:p>
        </p:txBody>
      </p:sp>
      <p:sp>
        <p:nvSpPr>
          <p:cNvPr id="1244047520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55688329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12264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57375875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46162843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313494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63E4957-4CC0-45CF-AE7E-4C7910909290}" type="datetime1">
              <a:rPr lang="ru-RU" smtClean="0"/>
              <a:t>10.06.2026</a:t>
            </a:fld>
            <a:endParaRPr lang="ru-RU"/>
          </a:p>
        </p:txBody>
      </p:sp>
      <p:sp>
        <p:nvSpPr>
          <p:cNvPr id="175448359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581967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04772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94940822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</a:p>
        </p:txBody>
      </p:sp>
      <p:sp>
        <p:nvSpPr>
          <p:cNvPr id="91431841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679719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F64ED88-44AF-4B32-BBCB-9532DD61A8EB}" type="datetime1">
              <a:rPr lang="ru-RU" smtClean="0"/>
              <a:t>10.06.2026</a:t>
            </a:fld>
            <a:endParaRPr lang="ru-RU"/>
          </a:p>
        </p:txBody>
      </p:sp>
      <p:sp>
        <p:nvSpPr>
          <p:cNvPr id="30278862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0162493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84396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18852566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72136374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85021C-B115-48DF-A594-6138827F692C}" type="datetime1">
              <a:rPr lang="ru-RU" smtClean="0"/>
              <a:t>10.06.2026</a:t>
            </a:fld>
            <a:endParaRPr lang="ru-RU"/>
          </a:p>
        </p:txBody>
      </p:sp>
      <p:sp>
        <p:nvSpPr>
          <p:cNvPr id="130293789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009505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733174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423347348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25565041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DC7C8E5-BD86-480D-AA0A-0D4106F1C047}" type="datetime1">
              <a:rPr lang="ru-RU" smtClean="0"/>
              <a:t>10.06.2026</a:t>
            </a:fld>
            <a:endParaRPr lang="ru-RU"/>
          </a:p>
        </p:txBody>
      </p:sp>
      <p:sp>
        <p:nvSpPr>
          <p:cNvPr id="171360705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5458451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2632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173454795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12297177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3385924-9B85-4156-93C8-0C6CC4D7714B}" type="datetime1">
              <a:rPr lang="ru-RU" smtClean="0"/>
              <a:t>10.06.2026</a:t>
            </a:fld>
            <a:endParaRPr lang="ru-RU"/>
          </a:p>
        </p:txBody>
      </p:sp>
      <p:sp>
        <p:nvSpPr>
          <p:cNvPr id="61790614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9182394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19847" name="Title 1"/>
          <p:cNvSpPr>
            <a:spLocks noGrp="1"/>
          </p:cNvSpPr>
          <p:nvPr>
            <p:ph type="ctrTitle"/>
          </p:nvPr>
        </p:nvSpPr>
        <p:spPr bwMode="auto">
          <a:xfrm>
            <a:off x="1523998" y="3429000"/>
            <a:ext cx="9144000" cy="11366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Разработка мобильного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приложения «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CS Schedule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endParaRPr lang="ru-RU" dirty="0"/>
          </a:p>
        </p:txBody>
      </p:sp>
      <p:sp>
        <p:nvSpPr>
          <p:cNvPr id="291382556" name="Subtitle 2"/>
          <p:cNvSpPr>
            <a:spLocks noGrp="1"/>
          </p:cNvSpPr>
          <p:nvPr>
            <p:ph type="subTitle" idx="1"/>
          </p:nvPr>
        </p:nvSpPr>
        <p:spPr bwMode="auto">
          <a:xfrm>
            <a:off x="5594099" y="5436925"/>
            <a:ext cx="6493793" cy="125570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Научный руководитель: Тарасов В.С.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ст. преподаватель</a:t>
            </a:r>
            <a:endParaRPr sz="20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Консультант: Ушаков В.А. ассистент</a:t>
            </a:r>
          </a:p>
          <a:p>
            <a:pPr algn="l">
              <a:defRPr/>
            </a:pPr>
            <a:r>
              <a:rPr lang="ru-RU" sz="2000" dirty="0"/>
              <a:t>Обучающийся: Ольховский Я.А. 3 курс</a:t>
            </a:r>
            <a:endParaRPr lang="ru-RU" sz="2000" dirty="0">
              <a:latin typeface="Times New Roman"/>
              <a:cs typeface="Times New Roman"/>
            </a:endParaRPr>
          </a:p>
          <a:p>
            <a:pPr algn="l">
              <a:defRPr/>
            </a:pPr>
            <a:endParaRPr lang="ru-RU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88542254" name="Subtitle 2"/>
          <p:cNvSpPr>
            <a:spLocks noGrp="1"/>
          </p:cNvSpPr>
          <p:nvPr/>
        </p:nvSpPr>
        <p:spPr bwMode="auto">
          <a:xfrm>
            <a:off x="400050" y="294480"/>
            <a:ext cx="11410949" cy="3134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14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5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МИНОБРНАУКИ РОССИИ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УЧРЕЖДЕНИЕ ВЫСШЕГО ОБРАЗОВАНИЯ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«ВОРОНЕЖСКИЙ ГОСУДАРСТВЕННЫЙ УНИВЕРСИТЕТ»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(ФГБОУ ВО «ВГУ»)</a:t>
            </a:r>
            <a:endParaRPr sz="3600" dirty="0"/>
          </a:p>
          <a:p>
            <a:pPr>
              <a:defRPr/>
            </a:pPr>
            <a:endParaRPr sz="3600" dirty="0"/>
          </a:p>
          <a:p>
            <a:pPr>
              <a:defRPr/>
            </a:pP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Факультет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компьютерных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наук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>
            <a:pPr>
              <a:defRPr/>
            </a:pP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Кафедра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программирования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информационных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технологий</a:t>
            </a: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76190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Проблемы и актуальность</a:t>
            </a:r>
            <a:endParaRPr dirty="0"/>
          </a:p>
        </p:txBody>
      </p:sp>
      <p:sp>
        <p:nvSpPr>
          <p:cNvPr id="2026030433" name="Объект 2"/>
          <p:cNvSpPr>
            <a:spLocks noGrp="1"/>
          </p:cNvSpPr>
          <p:nvPr>
            <p:ph idx="1"/>
          </p:nvPr>
        </p:nvSpPr>
        <p:spPr bwMode="auto">
          <a:xfrm>
            <a:off x="838199" y="1593130"/>
            <a:ext cx="10515600" cy="50086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Проблемы:</a:t>
            </a:r>
            <a:endParaRPr sz="2800" b="0" i="0" u="none" strike="noStrike" cap="none" spc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ru-RU" dirty="0">
                <a:solidFill>
                  <a:srgbClr val="000000"/>
                </a:solidFill>
              </a:rPr>
              <a:t>Сложно быстро найти группу / преподавателя / аудиторию</a:t>
            </a:r>
          </a:p>
          <a:p>
            <a:pPr algn="just">
              <a:defRPr/>
            </a:pPr>
            <a:r>
              <a:rPr lang="ru-RU" dirty="0">
                <a:solidFill>
                  <a:srgbClr val="000000"/>
                </a:solidFill>
              </a:rPr>
              <a:t>Нет полноценного офлайн-доступа </a:t>
            </a:r>
          </a:p>
          <a:p>
            <a:pPr algn="just">
              <a:defRPr/>
            </a:pPr>
            <a:r>
              <a:rPr lang="ru-RU" dirty="0">
                <a:solidFill>
                  <a:srgbClr val="000000"/>
                </a:solidFill>
              </a:rPr>
              <a:t>Нет нативного интерфейса для просмотра</a:t>
            </a:r>
          </a:p>
          <a:p>
            <a:pPr marL="0" indent="0" algn="just">
              <a:buNone/>
              <a:defRPr/>
            </a:pPr>
            <a:endParaRPr lang="ru-RU" sz="2800" b="0" i="0" u="none" strike="noStrike" cap="none" spc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indent="0" algn="just">
              <a:buNone/>
              <a:defRPr/>
            </a:pPr>
            <a:r>
              <a:rPr lang="ru-RU" sz="2800" b="0" i="0" u="none" strike="noStrike" cap="none" spc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Актуальность:</a:t>
            </a:r>
            <a:endParaRPr sz="2800" b="0" i="0" u="none" strike="noStrike" cap="none" spc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just">
              <a:defRPr/>
            </a:pPr>
            <a:r>
              <a:rPr lang="ru-RU" dirty="0">
                <a:solidFill>
                  <a:srgbClr val="000000"/>
                </a:solidFill>
              </a:rPr>
              <a:t>Студенты и преподаватели ежедневно обращаются к расписанию</a:t>
            </a:r>
          </a:p>
          <a:p>
            <a:pPr algn="just">
              <a:defRPr/>
            </a:pPr>
            <a:r>
              <a:rPr lang="ru-RU" dirty="0">
                <a:solidFill>
                  <a:srgbClr val="000000"/>
                </a:solidFill>
              </a:rPr>
              <a:t>Цифровизация учебного процесса в вузе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B741C6C-E840-0449-C971-1EB94CAD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2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7264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Цель</a:t>
            </a:r>
            <a:r>
              <a:rPr lang="ru-RU" sz="4400" b="0" i="0" u="none" strike="noStrike" cap="none" spc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работы</a:t>
            </a:r>
            <a:endParaRPr dirty="0"/>
          </a:p>
        </p:txBody>
      </p:sp>
      <p:sp>
        <p:nvSpPr>
          <p:cNvPr id="147414545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 algn="just">
              <a:buNone/>
              <a:defRPr/>
            </a:pPr>
            <a:r>
              <a:rPr lang="ru-RU" dirty="0"/>
              <a:t>Проектирование и разработка мобильного приложения «CS </a:t>
            </a:r>
            <a:r>
              <a:rPr lang="ru-RU" dirty="0" err="1"/>
              <a:t>Schedule</a:t>
            </a:r>
            <a:r>
              <a:rPr lang="ru-RU" dirty="0"/>
              <a:t>», обеспечивающего удобный офлайн-доступ к расписанию занятий факультета компьютерных наук ВГУ с поддержкой автоматического импорта данных и персонализации через систему сохранённых закладок.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05DC2DF-6702-1CC3-8D08-D7C6175D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46633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Постановка задачи</a:t>
            </a:r>
            <a:endParaRPr dirty="0"/>
          </a:p>
        </p:txBody>
      </p:sp>
      <p:sp>
        <p:nvSpPr>
          <p:cNvPr id="1047648642" name="Объект 2"/>
          <p:cNvSpPr>
            <a:spLocks noGrp="1"/>
          </p:cNvSpPr>
          <p:nvPr>
            <p:ph idx="1"/>
          </p:nvPr>
        </p:nvSpPr>
        <p:spPr bwMode="auto">
          <a:xfrm>
            <a:off x="414779" y="1442301"/>
            <a:ext cx="11481848" cy="4734662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ru-RU" dirty="0"/>
              <a:t>Провести анализ предметной области и изучить аналоги;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ru-RU" dirty="0"/>
              <a:t>Спроектировать архитектуру и схему локальной базы данных;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ru-RU" dirty="0"/>
              <a:t>Выбрать технологический стек и реализовать модуль импорта XLSX;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ru-RU" dirty="0"/>
              <a:t>Разработать </a:t>
            </a:r>
            <a:r>
              <a:rPr lang="ru-RU" dirty="0" err="1"/>
              <a:t>Android</a:t>
            </a:r>
            <a:r>
              <a:rPr lang="ru-RU" dirty="0"/>
              <a:t>-приложение с экранами закладок и детального расписания;</a:t>
            </a:r>
          </a:p>
          <a:p>
            <a:pPr marL="0" indent="0">
              <a:buNone/>
              <a:defRPr/>
            </a:pP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C0E2937-7440-E22C-7A04-0AF37703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18683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Обзор аналогов</a:t>
            </a:r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6751CA50-7838-00D7-318A-B6646FC35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484775" y="1690688"/>
            <a:ext cx="9222449" cy="36269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F80050-DD84-A651-8CBB-8A7F9796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5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1886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Средства реализации</a:t>
            </a:r>
            <a:endParaRPr/>
          </a:p>
        </p:txBody>
      </p:sp>
      <p:sp>
        <p:nvSpPr>
          <p:cNvPr id="172135595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Kotlin, Jetpack Compose</a:t>
            </a:r>
            <a:endParaRPr lang="ru-RU" dirty="0"/>
          </a:p>
          <a:p>
            <a:pPr>
              <a:defRPr/>
            </a:pPr>
            <a:r>
              <a:rPr lang="en-US" dirty="0"/>
              <a:t>Room, Navigation Compose, MVVM, Material Design 3</a:t>
            </a:r>
            <a:endParaRPr sz="2800" dirty="0"/>
          </a:p>
          <a:p>
            <a:pPr>
              <a:defRPr/>
            </a:pPr>
            <a:r>
              <a:rPr lang="en-US" dirty="0" err="1"/>
              <a:t>OkHttp</a:t>
            </a:r>
            <a:r>
              <a:rPr lang="en-US" dirty="0"/>
              <a:t>, </a:t>
            </a:r>
            <a:r>
              <a:rPr lang="en-US" dirty="0" err="1"/>
              <a:t>Jsoup</a:t>
            </a:r>
            <a:endParaRPr lang="ru-RU" dirty="0"/>
          </a:p>
          <a:p>
            <a:pPr>
              <a:defRPr/>
            </a:pPr>
            <a:r>
              <a:rPr lang="ru-RU" dirty="0"/>
              <a:t>Собственный парсер </a:t>
            </a:r>
            <a:r>
              <a:rPr lang="en-US" dirty="0"/>
              <a:t>XLSX (</a:t>
            </a:r>
            <a:r>
              <a:rPr lang="en-US" dirty="0" err="1"/>
              <a:t>RealSheetManualMapper</a:t>
            </a:r>
            <a:r>
              <a:rPr lang="en-US" dirty="0"/>
              <a:t>)</a:t>
            </a:r>
            <a:endParaRPr lang="ru-RU" sz="2800" b="0" i="0" u="none" strike="noStrike" cap="none" spc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defRPr/>
            </a:pPr>
            <a:r>
              <a:rPr lang="en-US" dirty="0"/>
              <a:t>Gradle, KSP, JUnit, </a:t>
            </a:r>
            <a:r>
              <a:rPr lang="en-US" dirty="0" err="1"/>
              <a:t>Robolectric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7F29FE-67C2-94BA-AC9E-50465F276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68C50B7-3445-47C4-024F-871E01BDED5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18867" name="Заголовок 1">
            <a:extLst>
              <a:ext uri="{FF2B5EF4-FFF2-40B4-BE49-F238E27FC236}">
                <a16:creationId xmlns:a16="http://schemas.microsoft.com/office/drawing/2014/main" id="{FB0DD5B9-968B-57E9-DA62-05C8DF118397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База данных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2E3194D-C948-BE93-2B80-58E0015F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EB2DEC-ADA8-6C53-F323-9E0327648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85" y="1390306"/>
            <a:ext cx="8930557" cy="533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994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7AF2E5-DE00-2217-CA1E-79DA48B2EB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18867" name="Заголовок 1">
            <a:extLst>
              <a:ext uri="{FF2B5EF4-FFF2-40B4-BE49-F238E27FC236}">
                <a16:creationId xmlns:a16="http://schemas.microsoft.com/office/drawing/2014/main" id="{03A77447-9D72-59DF-A89E-086756A8011C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База данных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52AF1FF-72B2-4104-533F-EB3955AA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9C1BD6-A331-EFCB-1E90-61B26AAEF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090" y="1765701"/>
            <a:ext cx="7336263" cy="38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9022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0A05398-CD3B-E6AE-21EF-9E0A69306AA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18867" name="Заголовок 1">
            <a:extLst>
              <a:ext uri="{FF2B5EF4-FFF2-40B4-BE49-F238E27FC236}">
                <a16:creationId xmlns:a16="http://schemas.microsoft.com/office/drawing/2014/main" id="{9A18290D-D7E6-907C-01A3-0C25135E9D4C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Диаграмма</a:t>
            </a:r>
            <a:r>
              <a:rPr lang="en-US" dirty="0"/>
              <a:t> </a:t>
            </a:r>
            <a:r>
              <a:rPr lang="ru-RU" dirty="0"/>
              <a:t>прецедентов</a:t>
            </a:r>
            <a:endParaRPr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F579886-6FFE-6A7D-210C-B3160232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AA8CE4-6C1E-A565-EEF5-75CB661407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3"/>
          <a:stretch>
            <a:fillRect/>
          </a:stretch>
        </p:blipFill>
        <p:spPr>
          <a:xfrm>
            <a:off x="421842" y="1400030"/>
            <a:ext cx="10515600" cy="532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7378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512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Реализация интерфейса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8A6B49F-B607-68EC-A5DE-7A9BEAEC8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8395586-F03A-48D1-94DF-16B239DF4FB5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5546A0-606F-215E-13F4-B32B0D61828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0" b="5641"/>
          <a:stretch>
            <a:fillRect/>
          </a:stretch>
        </p:blipFill>
        <p:spPr bwMode="auto">
          <a:xfrm>
            <a:off x="976767" y="1560864"/>
            <a:ext cx="2594842" cy="526101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02A8E9D-2A1C-0B0A-53A0-4E137E11CE4C}"/>
              </a:ext>
            </a:extLst>
          </p:cNvPr>
          <p:cNvSpPr txBox="1">
            <a:spLocks/>
          </p:cNvSpPr>
          <p:nvPr/>
        </p:nvSpPr>
        <p:spPr bwMode="auto">
          <a:xfrm>
            <a:off x="7573343" y="1492683"/>
            <a:ext cx="3390030" cy="620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Главный экран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ABAA3D-2646-2505-6D05-8D2B59AD1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055" y="1560864"/>
            <a:ext cx="2594842" cy="527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4FD783F-DDCA-6102-23ED-F0AF7325AF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5120" name="Заголовок 1">
            <a:extLst>
              <a:ext uri="{FF2B5EF4-FFF2-40B4-BE49-F238E27FC236}">
                <a16:creationId xmlns:a16="http://schemas.microsoft.com/office/drawing/2014/main" id="{98F9EE2D-EC57-D53D-075D-B05A364107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Реализация интерфейса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144C6F0-0739-CED4-38F2-E0A724C3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8395586-F03A-48D1-94DF-16B239DF4FB5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54B5618-1C5C-974D-9862-11414C6820C3}"/>
              </a:ext>
            </a:extLst>
          </p:cNvPr>
          <p:cNvSpPr txBox="1">
            <a:spLocks/>
          </p:cNvSpPr>
          <p:nvPr/>
        </p:nvSpPr>
        <p:spPr bwMode="auto">
          <a:xfrm>
            <a:off x="7443517" y="1539594"/>
            <a:ext cx="4616193" cy="2344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dirty="0"/>
              <a:t>1. Экран сохранения закладки</a:t>
            </a:r>
          </a:p>
          <a:p>
            <a:pPr>
              <a:defRPr/>
            </a:pPr>
            <a:endParaRPr lang="ru-RU" sz="3200" dirty="0"/>
          </a:p>
          <a:p>
            <a:pPr>
              <a:defRPr/>
            </a:pPr>
            <a:r>
              <a:rPr lang="ru-RU" sz="3200" dirty="0"/>
              <a:t>2. Экран сохранённого расписания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F18820-9073-5733-9D7D-5728D1C48B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043" y="1539594"/>
            <a:ext cx="2594841" cy="52734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E9DFB0-9447-0401-5EEF-8955962CEA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794" y="1560123"/>
            <a:ext cx="2595103" cy="5273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254509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CB05986-8AD6-80EE-DCE6-77AE0FAB17F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5120" name="Заголовок 1">
            <a:extLst>
              <a:ext uri="{FF2B5EF4-FFF2-40B4-BE49-F238E27FC236}">
                <a16:creationId xmlns:a16="http://schemas.microsoft.com/office/drawing/2014/main" id="{3D1FDCDE-BBB2-5577-1F3C-402C420802E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Реализация интерфейса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068D9B5-0EAC-485F-AF5A-AFFF3292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8395586-F03A-48D1-94DF-16B239DF4FB5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B9E2DDA-04D1-8B09-8BFA-D36EEF89252B}"/>
              </a:ext>
            </a:extLst>
          </p:cNvPr>
          <p:cNvSpPr txBox="1">
            <a:spLocks/>
          </p:cNvSpPr>
          <p:nvPr/>
        </p:nvSpPr>
        <p:spPr bwMode="auto">
          <a:xfrm>
            <a:off x="7443517" y="1539595"/>
            <a:ext cx="4616193" cy="1957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dirty="0"/>
              <a:t>1. Левое боковое меню</a:t>
            </a:r>
          </a:p>
          <a:p>
            <a:pPr>
              <a:defRPr/>
            </a:pPr>
            <a:endParaRPr lang="ru-RU" sz="3200" dirty="0"/>
          </a:p>
          <a:p>
            <a:pPr>
              <a:defRPr/>
            </a:pPr>
            <a:r>
              <a:rPr lang="ru-RU" sz="3200" dirty="0"/>
              <a:t>2. Экран источника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B693482-96D6-8213-9E72-0369F92594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83" y="1540009"/>
            <a:ext cx="2595102" cy="5273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D1DBA0-0B06-3173-5021-4608E597DB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795" y="1539083"/>
            <a:ext cx="2595102" cy="52739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99156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95853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Заключение</a:t>
            </a:r>
          </a:p>
        </p:txBody>
      </p:sp>
      <p:sp>
        <p:nvSpPr>
          <p:cNvPr id="1239171751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lnSpcReduction="10000"/>
          </a:bodyPr>
          <a:lstStyle/>
          <a:p>
            <a:pPr marL="0" indent="0">
              <a:buNone/>
              <a:defRPr/>
            </a:pPr>
            <a:r>
              <a:rPr lang="ru-RU" dirty="0">
                <a:latin typeface="SamsungOne 800C"/>
                <a:ea typeface="SamsungOne 800C"/>
                <a:cs typeface="SamsungOne 800C"/>
              </a:rPr>
              <a:t>В результате работы создано </a:t>
            </a:r>
            <a:r>
              <a:rPr lang="ru-RU" dirty="0" err="1">
                <a:latin typeface="SamsungOne 800C"/>
                <a:ea typeface="SamsungOne 800C"/>
                <a:cs typeface="SamsungOne 800C"/>
              </a:rPr>
              <a:t>Android</a:t>
            </a:r>
            <a:r>
              <a:rPr lang="ru-RU" dirty="0">
                <a:latin typeface="SamsungOne 800C"/>
                <a:ea typeface="SamsungOne 800C"/>
                <a:cs typeface="SamsungOne 800C"/>
              </a:rPr>
              <a:t>-приложение «CS </a:t>
            </a:r>
            <a:r>
              <a:rPr lang="ru-RU" dirty="0" err="1">
                <a:latin typeface="SamsungOne 800C"/>
                <a:ea typeface="SamsungOne 800C"/>
                <a:cs typeface="SamsungOne 800C"/>
              </a:rPr>
              <a:t>Schedule</a:t>
            </a:r>
            <a:r>
              <a:rPr lang="ru-RU" dirty="0">
                <a:latin typeface="SamsungOne 800C"/>
                <a:ea typeface="SamsungOne 800C"/>
                <a:cs typeface="SamsungOne 800C"/>
              </a:rPr>
              <a:t>» для просмотра расписания ФКН ВГУ с автоматическим импортом и персональными закладками.</a:t>
            </a:r>
          </a:p>
          <a:p>
            <a:pPr marL="0" indent="0">
              <a:buNone/>
              <a:defRPr/>
            </a:pPr>
            <a:endParaRPr lang="ru-RU" dirty="0">
              <a:latin typeface="SamsungOne 800C"/>
              <a:ea typeface="SamsungOne 800C"/>
              <a:cs typeface="SamsungOne 800C"/>
            </a:endParaRPr>
          </a:p>
          <a:p>
            <a:pPr marL="0" indent="0">
              <a:buNone/>
              <a:defRPr/>
            </a:pPr>
            <a:r>
              <a:rPr lang="ru-RU" dirty="0">
                <a:latin typeface="SamsungOne 800C"/>
                <a:ea typeface="SamsungOne 800C"/>
                <a:cs typeface="SamsungOne 800C"/>
              </a:rPr>
              <a:t>  Выполнено:</a:t>
            </a:r>
          </a:p>
          <a:p>
            <a:pPr>
              <a:defRPr/>
            </a:pPr>
            <a:r>
              <a:rPr lang="ru-RU" dirty="0">
                <a:latin typeface="SamsungOne 800C"/>
                <a:ea typeface="SamsungOne 800C"/>
                <a:cs typeface="SamsungOne 800C"/>
              </a:rPr>
              <a:t>Проанализированы предметная область и аналоги</a:t>
            </a:r>
          </a:p>
          <a:p>
            <a:pPr>
              <a:defRPr/>
            </a:pPr>
            <a:r>
              <a:rPr lang="ru-RU" dirty="0">
                <a:latin typeface="SamsungOne 800C"/>
                <a:ea typeface="SamsungOne 800C"/>
                <a:cs typeface="SamsungOne 800C"/>
              </a:rPr>
              <a:t>Спроектирована </a:t>
            </a:r>
            <a:r>
              <a:rPr lang="ru-RU" dirty="0" err="1">
                <a:latin typeface="SamsungOne 800C"/>
                <a:ea typeface="SamsungOne 800C"/>
                <a:cs typeface="SamsungOne 800C"/>
              </a:rPr>
              <a:t>одноклиентная</a:t>
            </a:r>
            <a:r>
              <a:rPr lang="ru-RU" dirty="0">
                <a:latin typeface="SamsungOne 800C"/>
                <a:ea typeface="SamsungOne 800C"/>
                <a:cs typeface="SamsungOne 800C"/>
              </a:rPr>
              <a:t> архитектура и БД </a:t>
            </a:r>
            <a:r>
              <a:rPr lang="ru-RU" dirty="0" err="1">
                <a:latin typeface="SamsungOne 800C"/>
                <a:ea typeface="SamsungOne 800C"/>
                <a:cs typeface="SamsungOne 800C"/>
              </a:rPr>
              <a:t>Room</a:t>
            </a:r>
            <a:endParaRPr lang="ru-RU" dirty="0">
              <a:latin typeface="SamsungOne 800C"/>
              <a:ea typeface="SamsungOne 800C"/>
              <a:cs typeface="SamsungOne 800C"/>
            </a:endParaRPr>
          </a:p>
          <a:p>
            <a:pPr>
              <a:defRPr/>
            </a:pPr>
            <a:r>
              <a:rPr lang="ru-RU" dirty="0">
                <a:latin typeface="SamsungOne 800C"/>
                <a:ea typeface="SamsungOne 800C"/>
                <a:cs typeface="SamsungOne 800C"/>
              </a:rPr>
              <a:t>Реализован импорт и парсинг XLSX с сайта факультета</a:t>
            </a:r>
          </a:p>
          <a:p>
            <a:pPr>
              <a:defRPr/>
            </a:pPr>
            <a:r>
              <a:rPr lang="ru-RU" dirty="0">
                <a:latin typeface="SamsungOne 800C"/>
                <a:ea typeface="SamsungOne 800C"/>
                <a:cs typeface="SamsungOne 800C"/>
              </a:rPr>
              <a:t>Разработано готовое приложение на </a:t>
            </a:r>
            <a:r>
              <a:rPr lang="ru-RU" dirty="0" err="1">
                <a:latin typeface="SamsungOne 800C"/>
                <a:ea typeface="SamsungOne 800C"/>
                <a:cs typeface="SamsungOne 800C"/>
              </a:rPr>
              <a:t>Jetpack</a:t>
            </a:r>
            <a:r>
              <a:rPr lang="ru-RU" dirty="0">
                <a:latin typeface="SamsungOne 800C"/>
                <a:ea typeface="SamsungOne 800C"/>
                <a:cs typeface="SamsungOne 800C"/>
              </a:rPr>
              <a:t> </a:t>
            </a:r>
            <a:r>
              <a:rPr lang="ru-RU" dirty="0" err="1">
                <a:latin typeface="SamsungOne 800C"/>
                <a:ea typeface="SamsungOne 800C"/>
                <a:cs typeface="SamsungOne 800C"/>
              </a:rPr>
              <a:t>Compose</a:t>
            </a:r>
            <a:endParaRPr lang="ru-RU" dirty="0">
              <a:latin typeface="SamsungOne 800C"/>
              <a:ea typeface="SamsungOne 800C"/>
              <a:cs typeface="SamsungOne 800C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364127F-969E-40CC-4C30-237B55E0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395586-F03A-48D1-94DF-16B239DF4FB5}" type="slidenum">
              <a:rPr lang="ru-RU" smtClean="0"/>
              <a:t>13</a:t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9D7792E-A9D6-9782-57CA-835774DD1F0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19847" name="Title 1">
            <a:extLst>
              <a:ext uri="{FF2B5EF4-FFF2-40B4-BE49-F238E27FC236}">
                <a16:creationId xmlns:a16="http://schemas.microsoft.com/office/drawing/2014/main" id="{E484214B-CD5F-09B7-33A4-FCF17EE2F387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523998" y="3429000"/>
            <a:ext cx="9144000" cy="11366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/>
          </a:bodyPr>
          <a:lstStyle/>
          <a:p>
            <a:pPr>
              <a:defRPr/>
            </a:pP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Разработка мобильного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приложения «</a:t>
            </a:r>
            <a:r>
              <a:rPr lang="en-US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CS Schedule</a:t>
            </a:r>
            <a:r>
              <a:rPr lang="ru-RU" sz="24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endParaRPr lang="ru-RU" dirty="0"/>
          </a:p>
        </p:txBody>
      </p:sp>
      <p:sp>
        <p:nvSpPr>
          <p:cNvPr id="291382556" name="Subtitle 2">
            <a:extLst>
              <a:ext uri="{FF2B5EF4-FFF2-40B4-BE49-F238E27FC236}">
                <a16:creationId xmlns:a16="http://schemas.microsoft.com/office/drawing/2014/main" id="{13554D30-5B39-9752-B4E0-A66836CE7320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5594099" y="5436925"/>
            <a:ext cx="6493793" cy="125570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Научный руководитель: Тарасов В.С.</a:t>
            </a:r>
            <a:r>
              <a:rPr lang="en-US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ст. преподаватель</a:t>
            </a:r>
            <a:endParaRPr sz="20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 dirty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Консультант: Ушаков В.А. ассистент</a:t>
            </a:r>
          </a:p>
          <a:p>
            <a:pPr algn="l">
              <a:defRPr/>
            </a:pPr>
            <a:r>
              <a:rPr lang="ru-RU" sz="2000" dirty="0"/>
              <a:t>Обучающийся: Ольховский Я.А. 3 курс</a:t>
            </a:r>
            <a:endParaRPr lang="ru-RU" sz="2000" dirty="0">
              <a:latin typeface="Times New Roman"/>
              <a:cs typeface="Times New Roman"/>
            </a:endParaRPr>
          </a:p>
          <a:p>
            <a:pPr algn="l">
              <a:defRPr/>
            </a:pPr>
            <a:endParaRPr lang="ru-RU" sz="2400" b="0" i="0" u="none" strike="noStrike" cap="none" spc="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88542254" name="Subtitle 2">
            <a:extLst>
              <a:ext uri="{FF2B5EF4-FFF2-40B4-BE49-F238E27FC236}">
                <a16:creationId xmlns:a16="http://schemas.microsoft.com/office/drawing/2014/main" id="{E37F5723-5A52-58E4-B2E0-8A177DEAEEF7}"/>
              </a:ext>
            </a:extLst>
          </p:cNvPr>
          <p:cNvSpPr>
            <a:spLocks noGrp="1"/>
          </p:cNvSpPr>
          <p:nvPr/>
        </p:nvSpPr>
        <p:spPr bwMode="auto">
          <a:xfrm>
            <a:off x="400050" y="294480"/>
            <a:ext cx="11410949" cy="3134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87500" lnSpcReduction="14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5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МИНОБРНАУКИ РОССИИ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УЧРЕЖДЕНИЕ ВЫСШЕГО ОБРАЗОВАНИЯ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«ВОРОНЕЖСКИЙ ГОСУДАРСТВЕННЫЙ УНИВЕРСИТЕТ» </a:t>
            </a:r>
          </a:p>
          <a:p>
            <a:pPr>
              <a:defRPr/>
            </a:pP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(ФГБОУ ВО «ВГУ»)</a:t>
            </a:r>
            <a:endParaRPr sz="3600" dirty="0"/>
          </a:p>
          <a:p>
            <a:pPr>
              <a:defRPr/>
            </a:pPr>
            <a:endParaRPr sz="3600" dirty="0"/>
          </a:p>
          <a:p>
            <a:pPr>
              <a:defRPr/>
            </a:pP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Факультет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компьютерных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наук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  <a:p>
            <a:pPr>
              <a:defRPr/>
            </a:pP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Кафедра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программирования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и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информационных</a:t>
            </a:r>
            <a:r>
              <a:rPr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технологий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442329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242</TotalTime>
  <Words>374</Words>
  <Application>Microsoft Office PowerPoint</Application>
  <PresentationFormat>Широкоэкранный</PresentationFormat>
  <Paragraphs>94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SamsungOne 800C</vt:lpstr>
      <vt:lpstr>Times New Roman</vt:lpstr>
      <vt:lpstr>Office Theme</vt:lpstr>
      <vt:lpstr>Разработка мобильного приложения «CS Schedule»</vt:lpstr>
      <vt:lpstr>Проблемы и актуальность</vt:lpstr>
      <vt:lpstr>Цель работы</vt:lpstr>
      <vt:lpstr>Постановка задачи</vt:lpstr>
      <vt:lpstr>Обзор аналогов</vt:lpstr>
      <vt:lpstr>Средства реализации</vt:lpstr>
      <vt:lpstr>База данных</vt:lpstr>
      <vt:lpstr>База данных</vt:lpstr>
      <vt:lpstr>Диаграмма прецедентов</vt:lpstr>
      <vt:lpstr>Реализация интерфейса</vt:lpstr>
      <vt:lpstr>Реализация интерфейса</vt:lpstr>
      <vt:lpstr>Реализация интерфейса</vt:lpstr>
      <vt:lpstr>Заключение</vt:lpstr>
      <vt:lpstr>Разработка мобильного приложения «CS Schedule»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Yaroslav Olhovskiy</cp:lastModifiedBy>
  <cp:revision>9</cp:revision>
  <dcterms:modified xsi:type="dcterms:W3CDTF">2026-06-10T02:46:11Z</dcterms:modified>
</cp:coreProperties>
</file>
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9" r:id="rId12"/>
    <p:sldId id="268" r:id="rId13"/>
  </p:sldIdLst>
  <p:sldSz cx="12192000" cy="6858000"/>
  <p:notesSz cx="6858000" cy="9144000"/>
  <p:defaultTextStyle>
    <a:defPPr>
      <a:defRPr lang="ru-RU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826" y="87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319638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8028420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ru-RU"/>
              <a:t>06.06.2026</a:t>
            </a:fld>
            <a:endParaRPr lang="ru-RU"/>
          </a:p>
        </p:txBody>
      </p:sp>
      <p:sp>
        <p:nvSpPr>
          <p:cNvPr id="2028057454" name="Рисунок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1744254508" name="Заметка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421081194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115714423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319288" name="Рисунок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2882814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068084193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F1F649-7695-80F5-9701-CCEAE394C69C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58D4CF-DBBE-1916-ABA7-D57C0C8021E3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5625F3-FA9B-8667-11DC-5698A49F323D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47535-D246-6DED-CE93-C8DED4452F9B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144C14A-F8D3-35D1-C3B6-5B7F509A55D1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19AC517-8BA4-9FE1-B38D-1E424EF112D7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EC82B5-E11D-E14B-C44F-8FC036AE6ADC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0481A7B-66EE-369C-41E4-B7D2FFB879D9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AD9BF7D-0478-54D7-062A-A9C38DB7D478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841082-2F8E-8296-AE50-D0A6BB021B5E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6B538-0787-ABEF-BDED-88432D0BCEFA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6483BB-598E-186C-CBA1-8CBBB7E50B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465B42-D4ED-41D8-6E2C-0C794E41B76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A26AC-CA87-529F-4C93-EBD4708360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841082-2F8E-8296-AE50-D0A6BB021B5E}" type="slidenum">
              <a:rPr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404550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26A9D3-D73D-49F1-DDE1-64391AD85964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5465364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2000419998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</a:p>
        </p:txBody>
      </p:sp>
      <p:sp>
        <p:nvSpPr>
          <p:cNvPr id="25067226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383A283-2DA7-47D7-B284-CB893B00F90B}" type="datetime1">
              <a:rPr lang="ru-RU" smtClean="0"/>
              <a:t>06.06.2026</a:t>
            </a:fld>
            <a:endParaRPr lang="ru-RU"/>
          </a:p>
        </p:txBody>
      </p:sp>
      <p:sp>
        <p:nvSpPr>
          <p:cNvPr id="741084286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11629509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025815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164375733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1397927505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B189735-AE42-49FE-8035-C952F087A343}" type="datetime1">
              <a:rPr lang="ru-RU" smtClean="0"/>
              <a:t>06.06.2026</a:t>
            </a:fld>
            <a:endParaRPr lang="ru-RU"/>
          </a:p>
        </p:txBody>
      </p:sp>
      <p:sp>
        <p:nvSpPr>
          <p:cNvPr id="112044561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34279231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85206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2056743542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2469865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D75EC3F-4431-4680-BD27-BEBD9B9DA6DE}" type="datetime1">
              <a:rPr lang="ru-RU" smtClean="0"/>
              <a:t>06.06.2026</a:t>
            </a:fld>
            <a:endParaRPr lang="ru-RU"/>
          </a:p>
        </p:txBody>
      </p:sp>
      <p:sp>
        <p:nvSpPr>
          <p:cNvPr id="97756103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63976140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5554905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18367918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1900589912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2097103787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C11FC95-0AD7-4F65-9735-0DC5F76C0466}" type="datetime1">
              <a:rPr lang="ru-RU" smtClean="0"/>
              <a:t>06.06.2026</a:t>
            </a:fld>
            <a:endParaRPr lang="ru-RU"/>
          </a:p>
        </p:txBody>
      </p:sp>
      <p:sp>
        <p:nvSpPr>
          <p:cNvPr id="51490915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6948843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2834879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145671561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21032065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1100681953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59484755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121266108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D7C48D1-9B84-4A04-A5CD-522F3BC930D9}" type="datetime1">
              <a:rPr lang="ru-RU" smtClean="0"/>
              <a:t>06.06.2026</a:t>
            </a:fld>
            <a:endParaRPr lang="ru-RU"/>
          </a:p>
        </p:txBody>
      </p:sp>
      <p:sp>
        <p:nvSpPr>
          <p:cNvPr id="714743440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5515431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9161186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209565128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E936806-4A77-4160-A31A-83585A77CDD3}" type="datetime1">
              <a:rPr lang="ru-RU" smtClean="0"/>
              <a:t>06.06.2026</a:t>
            </a:fld>
            <a:endParaRPr lang="ru-RU"/>
          </a:p>
        </p:txBody>
      </p:sp>
      <p:sp>
        <p:nvSpPr>
          <p:cNvPr id="1513226589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0466293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4184786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39F75B5-0D8E-4552-B226-99E0563FC978}" type="datetime1">
              <a:rPr lang="ru-RU" smtClean="0"/>
              <a:t>06.06.2026</a:t>
            </a:fld>
            <a:endParaRPr lang="ru-RU"/>
          </a:p>
        </p:txBody>
      </p:sp>
      <p:sp>
        <p:nvSpPr>
          <p:cNvPr id="1244047520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55688329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122640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557375875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1461628435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3134944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63E4957-4CC0-45CF-AE7E-4C7910909290}" type="datetime1">
              <a:rPr lang="ru-RU" smtClean="0"/>
              <a:t>06.06.2026</a:t>
            </a:fld>
            <a:endParaRPr lang="ru-RU"/>
          </a:p>
        </p:txBody>
      </p:sp>
      <p:sp>
        <p:nvSpPr>
          <p:cNvPr id="1754483597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1581967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3047725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949408223" name="Рисунок 2"/>
          <p:cNvSpPr>
            <a:spLocks noGrp="1" noChangeAspect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Нажмите, чтобы добавить изображение</a:t>
            </a:r>
          </a:p>
        </p:txBody>
      </p:sp>
      <p:sp>
        <p:nvSpPr>
          <p:cNvPr id="914318411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76797199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F64ED88-44AF-4B32-BBCB-9532DD61A8EB}" type="datetime1">
              <a:rPr lang="ru-RU" smtClean="0"/>
              <a:t>06.06.2026</a:t>
            </a:fld>
            <a:endParaRPr lang="ru-RU"/>
          </a:p>
        </p:txBody>
      </p:sp>
      <p:sp>
        <p:nvSpPr>
          <p:cNvPr id="302788623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01624938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84396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518852566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1721363740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85021C-B115-48DF-A594-6138827F692C}" type="datetime1">
              <a:rPr lang="ru-RU" smtClean="0"/>
              <a:t>06.06.2026</a:t>
            </a:fld>
            <a:endParaRPr lang="ru-RU"/>
          </a:p>
        </p:txBody>
      </p:sp>
      <p:sp>
        <p:nvSpPr>
          <p:cNvPr id="1302937890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00095054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1733174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1423347348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25565041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DC7C8E5-BD86-480D-AA0A-0D4106F1C047}" type="datetime1">
              <a:rPr lang="ru-RU" smtClean="0"/>
              <a:t>06.06.2026</a:t>
            </a:fld>
            <a:endParaRPr lang="ru-RU"/>
          </a:p>
        </p:txBody>
      </p:sp>
      <p:sp>
        <p:nvSpPr>
          <p:cNvPr id="171360705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54584519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4126320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1734547957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112297177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3385924-9B85-4156-93C8-0C6CC4D7714B}" type="datetime1">
              <a:rPr lang="ru-RU" smtClean="0"/>
              <a:t>06.06.2026</a:t>
            </a:fld>
            <a:endParaRPr lang="ru-RU"/>
          </a:p>
        </p:txBody>
      </p:sp>
      <p:sp>
        <p:nvSpPr>
          <p:cNvPr id="61790614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9182394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5819847" name="Title 1"/>
          <p:cNvSpPr>
            <a:spLocks noGrp="1"/>
          </p:cNvSpPr>
          <p:nvPr>
            <p:ph type="ctrTitle"/>
          </p:nvPr>
        </p:nvSpPr>
        <p:spPr bwMode="auto">
          <a:xfrm>
            <a:off x="1523998" y="3429000"/>
            <a:ext cx="9144000" cy="1136643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compatLnSpc="0">
            <a:normAutofit/>
          </a:bodyPr>
          <a:lstStyle/>
          <a:p>
            <a:pPr>
              <a:defRPr/>
            </a:pPr>
            <a:r>
              <a:rPr lang="ru-RU" sz="2400" b="0" i="0" u="none" strike="noStrike" cap="none" spc="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Разработка мобильного</a:t>
            </a:r>
            <a:r>
              <a:rPr lang="en-US" sz="2400" b="0" i="0" u="none" strike="noStrike" cap="none" spc="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 </a:t>
            </a:r>
            <a:r>
              <a:rPr lang="ru-RU" sz="2400" b="0" i="0" u="none" strike="noStrike" cap="none" spc="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приложения «</a:t>
            </a:r>
            <a:r>
              <a:rPr lang="en-US" sz="2400" b="0" i="0" u="none" strike="noStrike" cap="none" spc="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CS Schedule</a:t>
            </a:r>
            <a:r>
              <a:rPr lang="ru-RU" sz="2400" b="0" i="0" u="none" strike="noStrike" cap="none" spc="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»</a:t>
            </a:r>
            <a:endParaRPr lang="ru-RU" dirty="0"/>
          </a:p>
        </p:txBody>
      </p:sp>
      <p:sp>
        <p:nvSpPr>
          <p:cNvPr id="291382556" name="Subtitle 2"/>
          <p:cNvSpPr>
            <a:spLocks noGrp="1"/>
          </p:cNvSpPr>
          <p:nvPr>
            <p:ph type="subTitle" idx="1"/>
          </p:nvPr>
        </p:nvSpPr>
        <p:spPr bwMode="auto">
          <a:xfrm>
            <a:off x="5594099" y="5436925"/>
            <a:ext cx="6493793" cy="125570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90000" lnSpcReduction="2000"/>
          </a:bodyPr>
          <a:lstStyle/>
          <a:p>
            <a:pPr algn="l">
              <a:defRPr/>
            </a:pPr>
            <a:r>
              <a:rPr lang="ru-RU" sz="2000" b="0" i="0" u="none" strike="noStrike" cap="none" spc="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Научный руководитель: Тарасов В.С.</a:t>
            </a:r>
            <a:r>
              <a:rPr lang="en-US" sz="2000" b="0" i="0" u="none" strike="noStrike" cap="none" spc="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 </a:t>
            </a:r>
            <a:r>
              <a:rPr lang="ru-RU" sz="2000" b="0" i="0" u="none" strike="noStrike" cap="none" spc="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ст. преподаватель</a:t>
            </a:r>
            <a:endParaRPr sz="2000" b="0" i="0" u="none" strike="noStrike" cap="none" spc="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l">
              <a:defRPr/>
            </a:pPr>
            <a:r>
              <a:rPr lang="ru-RU" sz="2000" b="0" i="0" u="none" strike="noStrike" cap="none" spc="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Консультант: Ушаков В.А. ассистент</a:t>
            </a:r>
          </a:p>
          <a:p>
            <a:pPr algn="l">
              <a:defRPr/>
            </a:pPr>
            <a:r>
              <a:rPr lang="ru-RU" sz="2000" dirty="0"/>
              <a:t>Обучающийся: Ольховский Я.А. 3 курс</a:t>
            </a:r>
            <a:endParaRPr lang="ru-RU" sz="2000" dirty="0">
              <a:latin typeface="Times New Roman"/>
              <a:cs typeface="Times New Roman"/>
            </a:endParaRPr>
          </a:p>
          <a:p>
            <a:pPr algn="l">
              <a:defRPr/>
            </a:pPr>
            <a:endParaRPr lang="ru-RU" sz="2400" b="0" i="0" u="none" strike="noStrike" cap="none" spc="0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088542254" name="Subtitle 2"/>
          <p:cNvSpPr>
            <a:spLocks noGrp="1"/>
          </p:cNvSpPr>
          <p:nvPr/>
        </p:nvSpPr>
        <p:spPr bwMode="auto">
          <a:xfrm>
            <a:off x="400050" y="294480"/>
            <a:ext cx="11410949" cy="31345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87500" lnSpcReduction="14000"/>
          </a:bodyPr>
          <a:lstStyle>
            <a:lvl1pPr marL="0" indent="0" algn="ctr" defTabSz="914400" rtl="0">
              <a:lnSpc>
                <a:spcPct val="90000"/>
              </a:lnSpc>
              <a:spcBef>
                <a:spcPts val="995"/>
              </a:spcBef>
              <a:buFont typeface="Arial"/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МИНОБРНАУКИ РОССИИ </a:t>
            </a:r>
          </a:p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ФЕДЕРАЛЬНОЕ ГОСУДАРСТВЕННОЕ БЮДЖЕТНОЕ ОБРАЗОВАТЕЛЬНОЕ </a:t>
            </a:r>
          </a:p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УЧРЕЖДЕНИЕ ВЫСШЕГО ОБРАЗОВАНИЯ </a:t>
            </a:r>
          </a:p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«ВОРОНЕЖСКИЙ ГОСУДАРСТВЕННЫЙ УНИВЕРСИТЕТ» </a:t>
            </a:r>
          </a:p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(ФГБОУ ВО «ВГУ»)</a:t>
            </a:r>
            <a:endParaRPr sz="3600" dirty="0"/>
          </a:p>
          <a:p>
            <a:pPr>
              <a:defRPr/>
            </a:pPr>
            <a:endParaRPr sz="3600" dirty="0"/>
          </a:p>
          <a:p>
            <a:pPr>
              <a:defRPr/>
            </a:pP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Факультет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компьютерных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наук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</a:p>
          <a:p>
            <a:pPr>
              <a:defRPr/>
            </a:pP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Кафедра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программирования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и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информационных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технологий</a:t>
            </a:r>
            <a:endParaRPr sz="2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276190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400" b="0" i="0" u="none" strike="noStrike" cap="none" spc="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Проблемы и актуальность</a:t>
            </a:r>
            <a:endParaRPr dirty="0"/>
          </a:p>
        </p:txBody>
      </p:sp>
      <p:sp>
        <p:nvSpPr>
          <p:cNvPr id="2026030433" name="Объект 2"/>
          <p:cNvSpPr>
            <a:spLocks noGrp="1"/>
          </p:cNvSpPr>
          <p:nvPr>
            <p:ph idx="1"/>
          </p:nvPr>
        </p:nvSpPr>
        <p:spPr bwMode="auto">
          <a:xfrm>
            <a:off x="838199" y="1593130"/>
            <a:ext cx="10515600" cy="50086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lang="ru-RU" sz="2800" b="0" i="0" u="none" strike="noStrike" cap="none" spc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Проблемы:</a:t>
            </a:r>
            <a:endParaRPr sz="2800" b="0" i="0" u="none" strike="noStrike" cap="none" spc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ru-RU" dirty="0">
                <a:solidFill>
                  <a:srgbClr val="000000"/>
                </a:solidFill>
              </a:rPr>
              <a:t>Сложно быстро найти группу / преподавателя / аудиторию</a:t>
            </a:r>
          </a:p>
          <a:p>
            <a:pPr>
              <a:defRPr/>
            </a:pPr>
            <a:r>
              <a:rPr lang="ru-RU" dirty="0">
                <a:solidFill>
                  <a:srgbClr val="000000"/>
                </a:solidFill>
              </a:rPr>
              <a:t>Нет полноценного офлайн-доступа </a:t>
            </a:r>
          </a:p>
          <a:p>
            <a:pPr>
              <a:defRPr/>
            </a:pPr>
            <a:r>
              <a:rPr lang="ru-RU" dirty="0">
                <a:solidFill>
                  <a:srgbClr val="000000"/>
                </a:solidFill>
              </a:rPr>
              <a:t>Нет нативного интерфейса для просмотра</a:t>
            </a:r>
          </a:p>
          <a:p>
            <a:pPr marL="0" indent="0">
              <a:buNone/>
              <a:defRPr/>
            </a:pPr>
            <a:endParaRPr lang="ru-RU" sz="2800" b="0" i="0" u="none" strike="noStrike" cap="none" spc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/>
            </a:pPr>
            <a:r>
              <a:rPr lang="ru-RU" sz="2800" b="0" i="0" u="none" strike="noStrike" cap="none" spc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Актуальность:</a:t>
            </a:r>
            <a:endParaRPr sz="2800" b="0" i="0" u="none" strike="noStrike" cap="none" spc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ru-RU" dirty="0">
                <a:solidFill>
                  <a:srgbClr val="000000"/>
                </a:solidFill>
              </a:rPr>
              <a:t>Студенты и преподаватели ежедневно обращаются к расписанию</a:t>
            </a:r>
          </a:p>
          <a:p>
            <a:pPr>
              <a:defRPr/>
            </a:pPr>
            <a:r>
              <a:rPr lang="ru-RU" dirty="0">
                <a:solidFill>
                  <a:srgbClr val="000000"/>
                </a:solidFill>
              </a:rPr>
              <a:t>Цифровизация учебного процесса в вузе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1B741C6C-E840-0449-C971-1EB94CADF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ru-RU" smtClean="0"/>
              <a:t>2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726455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400" b="0" i="0" u="none" strike="noStrike" cap="none" spc="0" dirty="0">
                <a:solidFill>
                  <a:schemeClr val="tx1"/>
                </a:solidFill>
                <a:latin typeface="Arial"/>
                <a:ea typeface="Arial"/>
                <a:cs typeface="Arial"/>
              </a:rPr>
              <a:t>Цель</a:t>
            </a:r>
            <a:r>
              <a:rPr lang="ru-RU" sz="4400" b="0" i="0" u="none" strike="noStrike" cap="none" spc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работы</a:t>
            </a:r>
            <a:endParaRPr dirty="0"/>
          </a:p>
        </p:txBody>
      </p:sp>
      <p:sp>
        <p:nvSpPr>
          <p:cNvPr id="1474145459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dirty="0"/>
              <a:t>Проектирование и разработка мобильного приложения «CS </a:t>
            </a:r>
            <a:r>
              <a:rPr lang="ru-RU" dirty="0" err="1"/>
              <a:t>Schedule</a:t>
            </a:r>
            <a:r>
              <a:rPr lang="ru-RU" dirty="0"/>
              <a:t>», обеспечивающего удобный офлайн-доступ к расписанию занятий факультета компьютерных наук ВГУ с поддержкой автоматического импорта данных и персонализации через систему сохранённых закладок.</a:t>
            </a:r>
            <a:endParaRPr dirty="0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705DC2DF-6702-1CC3-8D08-D7C6175D1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ru-RU" smtClean="0"/>
              <a:t>3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0466339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Постановка задачи</a:t>
            </a:r>
            <a:endParaRPr/>
          </a:p>
        </p:txBody>
      </p:sp>
      <p:sp>
        <p:nvSpPr>
          <p:cNvPr id="1047648642" name="Объект 2"/>
          <p:cNvSpPr>
            <a:spLocks noGrp="1"/>
          </p:cNvSpPr>
          <p:nvPr>
            <p:ph idx="1"/>
          </p:nvPr>
        </p:nvSpPr>
        <p:spPr bwMode="auto">
          <a:xfrm>
            <a:off x="414779" y="1442301"/>
            <a:ext cx="11481848" cy="4734662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  <a:defRPr/>
            </a:pPr>
            <a:r>
              <a:rPr lang="ru-RU" dirty="0"/>
              <a:t>Провести анализ предметной области и изучить аналоги;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ru-RU" dirty="0"/>
              <a:t>Спроектировать архитектуру и схему локальной базы данных;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ru-RU" dirty="0"/>
              <a:t>Выбрать технологический стек и реализовать модуль импорта XLSX;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ru-RU" dirty="0"/>
              <a:t>Разработать </a:t>
            </a:r>
            <a:r>
              <a:rPr lang="ru-RU" dirty="0" err="1"/>
              <a:t>Android</a:t>
            </a:r>
            <a:r>
              <a:rPr lang="ru-RU" dirty="0"/>
              <a:t>-приложение с экранами закладок и детального расписания;</a:t>
            </a:r>
          </a:p>
          <a:p>
            <a:pPr marL="0" indent="0">
              <a:buNone/>
              <a:defRPr/>
            </a:pPr>
            <a:endParaRPr lang="ru-RU" dirty="0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C0E2937-7440-E22C-7A04-0AF377032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ru-RU" smtClean="0"/>
              <a:t>4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186836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Обзор аналогов</a:t>
            </a:r>
          </a:p>
        </p:txBody>
      </p:sp>
      <p:pic>
        <p:nvPicPr>
          <p:cNvPr id="3" name="Объект 2">
            <a:extLst>
              <a:ext uri="{FF2B5EF4-FFF2-40B4-BE49-F238E27FC236}">
                <a16:creationId xmlns:a16="http://schemas.microsoft.com/office/drawing/2014/main" id="{6751CA50-7838-00D7-318A-B6646FC35F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 bwMode="auto">
          <a:xfrm>
            <a:off x="1484775" y="1690688"/>
            <a:ext cx="9222449" cy="3626940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4F80050-DD84-A651-8CBB-8A7F97968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ru-RU" smtClean="0"/>
              <a:t>5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611886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Средства реализации</a:t>
            </a:r>
            <a:endParaRPr/>
          </a:p>
        </p:txBody>
      </p:sp>
      <p:sp>
        <p:nvSpPr>
          <p:cNvPr id="1721355951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 dirty="0"/>
              <a:t>Kotlin, Jetpack Compose</a:t>
            </a:r>
            <a:endParaRPr lang="ru-RU" dirty="0"/>
          </a:p>
          <a:p>
            <a:pPr>
              <a:defRPr/>
            </a:pPr>
            <a:r>
              <a:rPr lang="en-US" dirty="0"/>
              <a:t>Room, Navigation Compose, MVVM, Material Design 3</a:t>
            </a:r>
            <a:endParaRPr sz="2800" dirty="0"/>
          </a:p>
          <a:p>
            <a:pPr>
              <a:defRPr/>
            </a:pPr>
            <a:r>
              <a:rPr lang="en-US" dirty="0" err="1"/>
              <a:t>OkHttp</a:t>
            </a:r>
            <a:r>
              <a:rPr lang="en-US" dirty="0"/>
              <a:t>, </a:t>
            </a:r>
            <a:r>
              <a:rPr lang="en-US" dirty="0" err="1"/>
              <a:t>Jsoup</a:t>
            </a:r>
            <a:endParaRPr lang="ru-RU" dirty="0"/>
          </a:p>
          <a:p>
            <a:pPr>
              <a:defRPr/>
            </a:pPr>
            <a:r>
              <a:rPr lang="ru-RU" dirty="0"/>
              <a:t>Собственный парсер </a:t>
            </a:r>
            <a:r>
              <a:rPr lang="en-US" dirty="0"/>
              <a:t>XLSX (</a:t>
            </a:r>
            <a:r>
              <a:rPr lang="en-US" dirty="0" err="1"/>
              <a:t>RealSheetManualMapper</a:t>
            </a:r>
            <a:r>
              <a:rPr lang="en-US" dirty="0"/>
              <a:t>)</a:t>
            </a:r>
            <a:endParaRPr lang="ru-RU" sz="2800" b="0" i="0" u="none" strike="noStrike" cap="none" spc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>
              <a:defRPr/>
            </a:pPr>
            <a:r>
              <a:rPr lang="en-US" dirty="0"/>
              <a:t>Gradle, KSP, JUnit, </a:t>
            </a:r>
            <a:r>
              <a:rPr lang="en-US" dirty="0" err="1"/>
              <a:t>Robolectric</a:t>
            </a:r>
            <a:endParaRPr lang="ru-RU" dirty="0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77F29FE-67C2-94BA-AC9E-50465F276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ru-RU" smtClean="0"/>
              <a:t>6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1B748C69-25D2-43D7-7ACC-7F2246DB6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ru-RU" smtClean="0"/>
              <a:t>7</a:t>
            </a:fld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E8BB969-3B0A-9D66-CCA8-12567DA34E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6345" y="365125"/>
            <a:ext cx="8591550" cy="6467475"/>
          </a:xfrm>
          <a:prstGeom prst="rect">
            <a:avLst/>
          </a:prstGeom>
        </p:spPr>
      </p:pic>
      <p:sp>
        <p:nvSpPr>
          <p:cNvPr id="424718340" name="Заголовок 1"/>
          <p:cNvSpPr>
            <a:spLocks noGrp="1"/>
          </p:cNvSpPr>
          <p:nvPr>
            <p:ph type="title"/>
          </p:nvPr>
        </p:nvSpPr>
        <p:spPr bwMode="auto">
          <a:xfrm>
            <a:off x="914105" y="91747"/>
            <a:ext cx="4223209" cy="1077177"/>
          </a:xfrm>
        </p:spPr>
        <p:txBody>
          <a:bodyPr/>
          <a:lstStyle/>
          <a:p>
            <a:pPr>
              <a:defRPr/>
            </a:pPr>
            <a:r>
              <a:rPr dirty="0" err="1"/>
              <a:t>База</a:t>
            </a:r>
            <a:r>
              <a:rPr dirty="0"/>
              <a:t> </a:t>
            </a:r>
            <a:r>
              <a:rPr dirty="0" err="1"/>
              <a:t>данных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F3B98E7B-688A-A9FE-E94C-DA74DD5D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ru-RU" smtClean="0"/>
              <a:t>8</a:t>
            </a:fld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54CD869-CA7A-83EE-8972-A706C3DD3E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61"/>
          <a:stretch>
            <a:fillRect/>
          </a:stretch>
        </p:blipFill>
        <p:spPr>
          <a:xfrm>
            <a:off x="5987830" y="0"/>
            <a:ext cx="5924269" cy="6634277"/>
          </a:xfrm>
          <a:prstGeom prst="rect">
            <a:avLst/>
          </a:prstGeom>
        </p:spPr>
      </p:pic>
      <p:sp>
        <p:nvSpPr>
          <p:cNvPr id="1018604747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713917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 dirty="0"/>
              <a:t>Диаграмма</a:t>
            </a:r>
            <a:br>
              <a:rPr lang="ru-RU" dirty="0"/>
            </a:br>
            <a:r>
              <a:rPr lang="ru-RU" dirty="0"/>
              <a:t>прецедентов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375120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dirty="0" err="1"/>
              <a:t>Реализация</a:t>
            </a:r>
            <a:r>
              <a:rPr dirty="0"/>
              <a:t> </a:t>
            </a:r>
            <a:r>
              <a:rPr dirty="0" err="1"/>
              <a:t>интерфейса</a:t>
            </a:r>
            <a:endParaRPr dirty="0"/>
          </a:p>
        </p:txBody>
      </p:sp>
      <p:sp>
        <p:nvSpPr>
          <p:cNvPr id="1280640338" name="Объект 6"/>
          <p:cNvSpPr>
            <a:spLocks noGrp="1"/>
          </p:cNvSpPr>
          <p:nvPr/>
        </p:nvSpPr>
        <p:spPr bwMode="auto">
          <a:xfrm>
            <a:off x="411909" y="1990869"/>
            <a:ext cx="1943099" cy="7619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97500" lnSpcReduction="12000"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7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7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  <a:defRPr/>
            </a:pPr>
            <a:r>
              <a:rPr lang="ru-RU" dirty="0"/>
              <a:t>Г</a:t>
            </a:r>
            <a:r>
              <a:rPr lang="ru-RU" sz="2800" dirty="0"/>
              <a:t>лавный экран</a:t>
            </a:r>
            <a:endParaRPr sz="2800" dirty="0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8A6B49F-B607-68EC-A5DE-7A9BEAEC8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ru-RU" smtClean="0"/>
              <a:t>9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E5546A0-606F-215E-13F4-B32B0D61828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0" b="5641"/>
          <a:stretch>
            <a:fillRect/>
          </a:stretch>
        </p:blipFill>
        <p:spPr bwMode="auto">
          <a:xfrm>
            <a:off x="2431498" y="1611472"/>
            <a:ext cx="2379345" cy="4824095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2329149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Реализация интерфейса</a:t>
            </a:r>
          </a:p>
        </p:txBody>
      </p:sp>
      <p:sp>
        <p:nvSpPr>
          <p:cNvPr id="1977041740" name="Объект 6"/>
          <p:cNvSpPr>
            <a:spLocks noGrp="1"/>
          </p:cNvSpPr>
          <p:nvPr/>
        </p:nvSpPr>
        <p:spPr bwMode="auto">
          <a:xfrm>
            <a:off x="9825930" y="2004486"/>
            <a:ext cx="2136321" cy="84126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85000" lnSpcReduction="20000"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7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7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  <a:defRPr/>
            </a:pPr>
            <a:r>
              <a:rPr lang="ru-RU" sz="2800" dirty="0"/>
              <a:t>Экран сохранённого расписания</a:t>
            </a:r>
            <a:endParaRPr sz="2800" dirty="0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BF59E525-4B9A-5127-B163-450E40B68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ru-RU" smtClean="0"/>
              <a:t>10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B74BFC3-AFA0-6DE4-1ABE-8E1F6D8363B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5269" y="1690688"/>
            <a:ext cx="2430661" cy="493926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2EDB655-FC5D-002C-644B-FEB7654A8A0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3947" y="1690189"/>
            <a:ext cx="2430661" cy="4939764"/>
          </a:xfrm>
          <a:prstGeom prst="rect">
            <a:avLst/>
          </a:prstGeom>
          <a:noFill/>
          <a:ln>
            <a:noFill/>
          </a:ln>
        </p:spPr>
      </p:pic>
      <p:sp>
        <p:nvSpPr>
          <p:cNvPr id="42636527" name="Объект 6"/>
          <p:cNvSpPr>
            <a:spLocks noGrp="1"/>
          </p:cNvSpPr>
          <p:nvPr/>
        </p:nvSpPr>
        <p:spPr bwMode="auto">
          <a:xfrm>
            <a:off x="250456" y="2004486"/>
            <a:ext cx="2136321" cy="84126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82500" lnSpcReduction="20000"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7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7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  <a:defRPr/>
            </a:pPr>
            <a:r>
              <a:rPr lang="ru-RU" sz="2800" dirty="0"/>
              <a:t>Экран сохранения закладки</a:t>
            </a:r>
            <a:endParaRPr sz="28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A540DD4-4B08-9C4D-AF63-F0809A5F366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2329149" name="Заголовок 1">
            <a:extLst>
              <a:ext uri="{FF2B5EF4-FFF2-40B4-BE49-F238E27FC236}">
                <a16:creationId xmlns:a16="http://schemas.microsoft.com/office/drawing/2014/main" id="{6816C627-B489-9029-8C65-AAC4878E7CD2}"/>
              </a:ext>
            </a:extLst>
          </p:cNvPr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Реализация интерфейса</a:t>
            </a:r>
          </a:p>
        </p:txBody>
      </p:sp>
      <p:sp>
        <p:nvSpPr>
          <p:cNvPr id="1977041740" name="Объект 6">
            <a:extLst>
              <a:ext uri="{FF2B5EF4-FFF2-40B4-BE49-F238E27FC236}">
                <a16:creationId xmlns:a16="http://schemas.microsoft.com/office/drawing/2014/main" id="{CDA7C1EB-2229-44E9-9513-AC1DD4A5152A}"/>
              </a:ext>
            </a:extLst>
          </p:cNvPr>
          <p:cNvSpPr>
            <a:spLocks noGrp="1"/>
          </p:cNvSpPr>
          <p:nvPr/>
        </p:nvSpPr>
        <p:spPr bwMode="auto">
          <a:xfrm>
            <a:off x="9892084" y="2174990"/>
            <a:ext cx="2136321" cy="84126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85000" lnSpcReduction="20000"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7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7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  <a:defRPr/>
            </a:pPr>
            <a:r>
              <a:rPr lang="ru-RU" sz="2800" dirty="0"/>
              <a:t>Экран </a:t>
            </a:r>
            <a:r>
              <a:rPr lang="ru-RU" dirty="0"/>
              <a:t>источника данных</a:t>
            </a:r>
            <a:endParaRPr sz="2800" dirty="0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19777E2E-705B-1FBD-B4EC-9FE9D32F9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ru-RU" smtClean="0"/>
              <a:t>11</a:t>
            </a:fld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DE1273A-CB91-D5C7-83C0-C0B46718910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8389" y="1690688"/>
            <a:ext cx="2430661" cy="493887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Объект 6">
            <a:extLst>
              <a:ext uri="{FF2B5EF4-FFF2-40B4-BE49-F238E27FC236}">
                <a16:creationId xmlns:a16="http://schemas.microsoft.com/office/drawing/2014/main" id="{51E60A27-723C-D365-0F74-2D210DF7AA1C}"/>
              </a:ext>
            </a:extLst>
          </p:cNvPr>
          <p:cNvSpPr>
            <a:spLocks noGrp="1"/>
          </p:cNvSpPr>
          <p:nvPr/>
        </p:nvSpPr>
        <p:spPr bwMode="auto">
          <a:xfrm>
            <a:off x="404567" y="2161317"/>
            <a:ext cx="2136321" cy="84126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85000" lnSpcReduction="20000"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7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7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7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  <a:defRPr/>
            </a:pPr>
            <a:r>
              <a:rPr lang="ru-RU" sz="2800" dirty="0"/>
              <a:t>Левое боковое меню</a:t>
            </a:r>
            <a:endParaRPr sz="28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B404BDC-BE88-A738-EDB1-0DF792BC745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1850" y="1690688"/>
            <a:ext cx="2430234" cy="493887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72147057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6958530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Заключение</a:t>
            </a:r>
          </a:p>
        </p:txBody>
      </p:sp>
      <p:sp>
        <p:nvSpPr>
          <p:cNvPr id="1239171751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lnSpcReduction="10000"/>
          </a:bodyPr>
          <a:lstStyle/>
          <a:p>
            <a:pPr marL="0" indent="0">
              <a:buNone/>
              <a:defRPr/>
            </a:pPr>
            <a:r>
              <a:rPr lang="ru-RU" dirty="0">
                <a:latin typeface="SamsungOne 800C"/>
                <a:ea typeface="SamsungOne 800C"/>
                <a:cs typeface="SamsungOne 800C"/>
              </a:rPr>
              <a:t>В результате работы создано </a:t>
            </a:r>
            <a:r>
              <a:rPr lang="ru-RU" dirty="0" err="1">
                <a:latin typeface="SamsungOne 800C"/>
                <a:ea typeface="SamsungOne 800C"/>
                <a:cs typeface="SamsungOne 800C"/>
              </a:rPr>
              <a:t>Android</a:t>
            </a:r>
            <a:r>
              <a:rPr lang="ru-RU" dirty="0">
                <a:latin typeface="SamsungOne 800C"/>
                <a:ea typeface="SamsungOne 800C"/>
                <a:cs typeface="SamsungOne 800C"/>
              </a:rPr>
              <a:t>-приложение «CS </a:t>
            </a:r>
            <a:r>
              <a:rPr lang="ru-RU" dirty="0" err="1">
                <a:latin typeface="SamsungOne 800C"/>
                <a:ea typeface="SamsungOne 800C"/>
                <a:cs typeface="SamsungOne 800C"/>
              </a:rPr>
              <a:t>Schedule</a:t>
            </a:r>
            <a:r>
              <a:rPr lang="ru-RU" dirty="0">
                <a:latin typeface="SamsungOne 800C"/>
                <a:ea typeface="SamsungOne 800C"/>
                <a:cs typeface="SamsungOne 800C"/>
              </a:rPr>
              <a:t>» для просмотра расписания ФКН ВГУ с автоматическим импортом и персональными закладками.</a:t>
            </a:r>
          </a:p>
          <a:p>
            <a:pPr marL="0" indent="0">
              <a:buNone/>
              <a:defRPr/>
            </a:pPr>
            <a:endParaRPr lang="ru-RU" dirty="0">
              <a:latin typeface="SamsungOne 800C"/>
              <a:ea typeface="SamsungOne 800C"/>
              <a:cs typeface="SamsungOne 800C"/>
            </a:endParaRPr>
          </a:p>
          <a:p>
            <a:pPr marL="0" indent="0">
              <a:buNone/>
              <a:defRPr/>
            </a:pPr>
            <a:r>
              <a:rPr lang="ru-RU" dirty="0">
                <a:latin typeface="SamsungOne 800C"/>
                <a:ea typeface="SamsungOne 800C"/>
                <a:cs typeface="SamsungOne 800C"/>
              </a:rPr>
              <a:t>  Выполнено:</a:t>
            </a:r>
          </a:p>
          <a:p>
            <a:pPr>
              <a:defRPr/>
            </a:pPr>
            <a:r>
              <a:rPr lang="ru-RU" dirty="0">
                <a:latin typeface="SamsungOne 800C"/>
                <a:ea typeface="SamsungOne 800C"/>
                <a:cs typeface="SamsungOne 800C"/>
              </a:rPr>
              <a:t>Проанализированы предметная область и аналоги</a:t>
            </a:r>
          </a:p>
          <a:p>
            <a:pPr>
              <a:defRPr/>
            </a:pPr>
            <a:r>
              <a:rPr lang="ru-RU" dirty="0">
                <a:latin typeface="SamsungOne 800C"/>
                <a:ea typeface="SamsungOne 800C"/>
                <a:cs typeface="SamsungOne 800C"/>
              </a:rPr>
              <a:t>Спроектирована </a:t>
            </a:r>
            <a:r>
              <a:rPr lang="ru-RU" dirty="0" err="1">
                <a:latin typeface="SamsungOne 800C"/>
                <a:ea typeface="SamsungOne 800C"/>
                <a:cs typeface="SamsungOne 800C"/>
              </a:rPr>
              <a:t>одноклиентная</a:t>
            </a:r>
            <a:r>
              <a:rPr lang="ru-RU" dirty="0">
                <a:latin typeface="SamsungOne 800C"/>
                <a:ea typeface="SamsungOne 800C"/>
                <a:cs typeface="SamsungOne 800C"/>
              </a:rPr>
              <a:t> архитектура и БД </a:t>
            </a:r>
            <a:r>
              <a:rPr lang="ru-RU" dirty="0" err="1">
                <a:latin typeface="SamsungOne 800C"/>
                <a:ea typeface="SamsungOne 800C"/>
                <a:cs typeface="SamsungOne 800C"/>
              </a:rPr>
              <a:t>Room</a:t>
            </a:r>
            <a:endParaRPr lang="ru-RU" dirty="0">
              <a:latin typeface="SamsungOne 800C"/>
              <a:ea typeface="SamsungOne 800C"/>
              <a:cs typeface="SamsungOne 800C"/>
            </a:endParaRPr>
          </a:p>
          <a:p>
            <a:pPr>
              <a:defRPr/>
            </a:pPr>
            <a:r>
              <a:rPr lang="ru-RU" dirty="0">
                <a:latin typeface="SamsungOne 800C"/>
                <a:ea typeface="SamsungOne 800C"/>
                <a:cs typeface="SamsungOne 800C"/>
              </a:rPr>
              <a:t>Реализован импорт и парсинг XLSX с сайта факультета</a:t>
            </a:r>
          </a:p>
          <a:p>
            <a:pPr>
              <a:defRPr/>
            </a:pPr>
            <a:r>
              <a:rPr lang="ru-RU" dirty="0">
                <a:latin typeface="SamsungOne 800C"/>
                <a:ea typeface="SamsungOne 800C"/>
                <a:cs typeface="SamsungOne 800C"/>
              </a:rPr>
              <a:t>Разработано готовое приложение на </a:t>
            </a:r>
            <a:r>
              <a:rPr lang="ru-RU" dirty="0" err="1">
                <a:latin typeface="SamsungOne 800C"/>
                <a:ea typeface="SamsungOne 800C"/>
                <a:cs typeface="SamsungOne 800C"/>
              </a:rPr>
              <a:t>Jetpack</a:t>
            </a:r>
            <a:r>
              <a:rPr lang="ru-RU" dirty="0">
                <a:latin typeface="SamsungOne 800C"/>
                <a:ea typeface="SamsungOne 800C"/>
                <a:cs typeface="SamsungOne 800C"/>
              </a:rPr>
              <a:t> </a:t>
            </a:r>
            <a:r>
              <a:rPr lang="ru-RU" dirty="0" err="1">
                <a:latin typeface="SamsungOne 800C"/>
                <a:ea typeface="SamsungOne 800C"/>
                <a:cs typeface="SamsungOne 800C"/>
              </a:rPr>
              <a:t>Compose</a:t>
            </a:r>
            <a:endParaRPr lang="ru-RU" dirty="0">
              <a:latin typeface="SamsungOne 800C"/>
              <a:ea typeface="SamsungOne 800C"/>
              <a:cs typeface="SamsungOne 800C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9364127F-969E-40CC-4C30-237B55E07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ru-RU" smtClean="0"/>
              <a:t>12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theme/theme1.xml><?xml version="1.0" encoding="utf-8"?>
<a:theme xmlns:a="http://schemas.openxmlformats.org/drawing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</TotalTime>
  <Words>299</Words>
  <Application>Microsoft Office PowerPoint</Application>
  <PresentationFormat>Широкоэкранный</PresentationFormat>
  <Paragraphs>76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Arial</vt:lpstr>
      <vt:lpstr>SamsungOne 800C</vt:lpstr>
      <vt:lpstr>Times New Roman</vt:lpstr>
      <vt:lpstr>Office Theme</vt:lpstr>
      <vt:lpstr>Разработка мобильного приложения «CS Schedule»</vt:lpstr>
      <vt:lpstr>Проблемы и актуальность</vt:lpstr>
      <vt:lpstr>Цель работы</vt:lpstr>
      <vt:lpstr>Постановка задачи</vt:lpstr>
      <vt:lpstr>Обзор аналогов</vt:lpstr>
      <vt:lpstr>Средства реализации</vt:lpstr>
      <vt:lpstr>База данных</vt:lpstr>
      <vt:lpstr>Диаграмма прецедентов</vt:lpstr>
      <vt:lpstr>Реализация интерфейса</vt:lpstr>
      <vt:lpstr>Реализация интерфейса</vt:lpstr>
      <vt:lpstr>Реализация интерфейса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Yaroslav Olhovskiy</cp:lastModifiedBy>
  <cp:revision>7</cp:revision>
  <dcterms:modified xsi:type="dcterms:W3CDTF">2026-06-06T11:38:19Z</dcterms:modified>
</cp:coreProperties>
</file>